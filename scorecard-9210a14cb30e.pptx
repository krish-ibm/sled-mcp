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7729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02D9C"/>
                </a:solidFill>
                <a:latin typeface="IBM Plex Sans"/>
              </a:rPr>
              <a:t>Accenture AZ AFIS ERP 2013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6616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61616"/>
                </a:solidFill>
                <a:latin typeface="IBM Plex Sans"/>
              </a:rPr>
              <a:t>Competitive Scorecard &amp; FOIA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112772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F6F6F"/>
                </a:solidFill>
                <a:latin typeface="IBM Plex Sans"/>
              </a:rPr>
              <a:t>Focal vendor: IBM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F6F6F"/>
                </a:solidFill>
                <a:latin typeface="IBM Plex Sans"/>
              </a:rPr>
              <a:t>Prepared by SLED Competitive Intelligence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2D9C"/>
                </a:solidFill>
                <a:latin typeface="IBM Plex Sans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F6F6F"/>
                </a:solidFill>
                <a:latin typeface="IBM Plex Sans"/>
              </a:rPr>
              <a:t>Prepared by SLED Competitive Intelligence Team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11277295" cy="5120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8351215"/>
              </a:tblGrid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BM Plex Sans"/>
                        </a:rPr>
                        <a:t>Procurement Summary</a:t>
                      </a:r>
                    </a:p>
                  </a:txBody>
                  <a:tcPr anchor="t" marL="54864" marR="54864" marT="18288" marB="18288">
                    <a:solidFill>
                      <a:srgbClr val="0F6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616"/>
                          </a:solidFill>
                          <a:latin typeface="IBM Plex Sans"/>
                        </a:rPr>
                        <a:t>—</a:t>
                      </a:r>
                    </a:p>
                  </a:txBody>
                  <a:tcPr anchor="t"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BM Plex Sans"/>
                        </a:rPr>
                        <a:t>RFP #</a:t>
                      </a:r>
                    </a:p>
                  </a:txBody>
                  <a:tcPr anchor="t" marL="54864" marR="54864" marT="18288" marB="18288">
                    <a:solidFill>
                      <a:srgbClr val="0F6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616"/>
                          </a:solidFill>
                          <a:latin typeface="IBM Plex Sans"/>
                        </a:rPr>
                        <a:t>—</a:t>
                      </a:r>
                    </a:p>
                  </a:txBody>
                  <a:tcPr anchor="t" marL="54864" marR="54864" marT="18288" marB="18288">
                    <a:solidFill>
                      <a:srgbClr val="F7F8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BM Plex Sans"/>
                        </a:rPr>
                        <a:t>Procuring Agency</a:t>
                      </a:r>
                    </a:p>
                  </a:txBody>
                  <a:tcPr anchor="t" marL="54864" marR="54864" marT="18288" marB="18288">
                    <a:solidFill>
                      <a:srgbClr val="0F6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616"/>
                          </a:solidFill>
                          <a:latin typeface="IBM Plex Sans"/>
                        </a:rPr>
                        <a:t>—</a:t>
                      </a:r>
                    </a:p>
                  </a:txBody>
                  <a:tcPr anchor="t"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BM Plex Sans"/>
                        </a:rPr>
                        <a:t>Total Contract Value</a:t>
                      </a:r>
                    </a:p>
                  </a:txBody>
                  <a:tcPr anchor="t" marL="54864" marR="54864" marT="18288" marB="18288">
                    <a:solidFill>
                      <a:srgbClr val="0F6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616"/>
                          </a:solidFill>
                          <a:latin typeface="IBM Plex Sans"/>
                        </a:rPr>
                        <a:t>—</a:t>
                      </a:r>
                    </a:p>
                  </a:txBody>
                  <a:tcPr anchor="t" marL="54864" marR="54864" marT="18288" marB="18288">
                    <a:solidFill>
                      <a:srgbClr val="F7F8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BM Plex Sans"/>
                        </a:rPr>
                        <a:t>Winning Vendor</a:t>
                      </a:r>
                    </a:p>
                  </a:txBody>
                  <a:tcPr anchor="t" marL="54864" marR="54864" marT="18288" marB="18288">
                    <a:solidFill>
                      <a:srgbClr val="0F6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616"/>
                          </a:solidFill>
                          <a:latin typeface="IBM Plex Sans"/>
                        </a:rPr>
                        <a:t>Accenture</a:t>
                      </a:r>
                    </a:p>
                  </a:txBody>
                  <a:tcPr anchor="t"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BM Plex Sans"/>
                        </a:rPr>
                        <a:t>List of all Vendors</a:t>
                      </a:r>
                    </a:p>
                  </a:txBody>
                  <a:tcPr anchor="t" marL="54864" marR="54864" marT="18288" marB="18288">
                    <a:solidFill>
                      <a:srgbClr val="0F6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616"/>
                          </a:solidFill>
                          <a:latin typeface="IBM Plex Sans"/>
                        </a:rPr>
                        <a:t>• Accenture</a:t>
                      </a:r>
                    </a:p>
                  </a:txBody>
                  <a:tcPr anchor="t" marL="54864" marR="54864" marT="18288" marB="18288">
                    <a:solidFill>
                      <a:srgbClr val="F7F8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BM Plex Sans"/>
                        </a:rPr>
                        <a:t>Documents Received</a:t>
                      </a:r>
                    </a:p>
                  </a:txBody>
                  <a:tcPr anchor="t" marL="54864" marR="54864" marT="18288" marB="18288">
                    <a:solidFill>
                      <a:srgbClr val="0F6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616"/>
                          </a:solidFill>
                          <a:latin typeface="IBM Plex Sans"/>
                        </a:rPr>
                        <a:t>• 22_Attachment_1_Cost_Schedules_amended_Sept_4-1_FINALd.xlsx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61616"/>
                          </a:solidFill>
                          <a:latin typeface="IBM Plex Sans"/>
                        </a:rPr>
                        <a:t>• 01_AZ AFIS Cover.pdf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61616"/>
                          </a:solidFill>
                          <a:latin typeface="IBM Plex Sans"/>
                        </a:rPr>
                        <a:t>• 03_Table_of_Contents.pdf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61616"/>
                          </a:solidFill>
                          <a:latin typeface="IBM Plex Sans"/>
                        </a:rPr>
                        <a:t>• 04_Section_1_6.3_Executive_Summary.pdf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61616"/>
                          </a:solidFill>
                          <a:latin typeface="IBM Plex Sans"/>
                        </a:rPr>
                        <a:t>• 05_Section_2_6.4_Offeror_Company_Profile.pdf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61616"/>
                          </a:solidFill>
                          <a:latin typeface="IBM Plex Sans"/>
                        </a:rPr>
                        <a:t>• 06_Section_3_6.5_Subcontractor_Company_Profile.pdf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61616"/>
                          </a:solidFill>
                          <a:latin typeface="IBM Plex Sans"/>
                        </a:rPr>
                        <a:t>• 07_Section_4_6.6_References.pdf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61616"/>
                          </a:solidFill>
                          <a:latin typeface="IBM Plex Sans"/>
                        </a:rPr>
                        <a:t>• 08_Section_5_6.7_Proposed_Project_Staff_and_Organization.pdf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61616"/>
                          </a:solidFill>
                          <a:latin typeface="IBM Plex Sans"/>
                        </a:rPr>
                        <a:t>• 11_Section_6_6.8.10.1.pdf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61616"/>
                          </a:solidFill>
                          <a:latin typeface="IBM Plex Sans"/>
                        </a:rPr>
                        <a:t>• 12_Section_6_6.8.10.2-6.8.10.8.pdf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61616"/>
                          </a:solidFill>
                          <a:latin typeface="IBM Plex Sans"/>
                        </a:rPr>
                        <a:t>• 13_Section_6_6.8.10.9-6.8.10.12.pdf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61616"/>
                          </a:solidFill>
                          <a:latin typeface="IBM Plex Sans"/>
                        </a:rPr>
                        <a:t>• 14_Section_6_6.8.10.13-6.8.10.19.pdf</a:t>
                      </a:r>
                    </a:p>
                  </a:txBody>
                  <a:tcPr anchor="t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2D9C"/>
                </a:solidFill>
                <a:latin typeface="IBM Plex Sans"/>
              </a:rPr>
              <a:t>Final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F6F6F"/>
                </a:solidFill>
                <a:latin typeface="IBM Plex Sans"/>
              </a:rPr>
              <a:t>Prepared by SLED Competitive Intelligence Team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7295" cy="1005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BM Plex Sans"/>
                        </a:rPr>
                        <a:t>Vendor</a:t>
                      </a:r>
                    </a:p>
                  </a:txBody>
                  <a:tcPr anchor="ctr" marL="54864" marR="54864" marT="18288" marB="18288">
                    <a:solidFill>
                      <a:srgbClr val="0F6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BM Plex Sans"/>
                        </a:rPr>
                        <a:t>Technical Rank</a:t>
                      </a:r>
                    </a:p>
                  </a:txBody>
                  <a:tcPr anchor="ctr" marL="54864" marR="54864" marT="18288" marB="18288">
                    <a:solidFill>
                      <a:srgbClr val="0F6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BM Plex Sans"/>
                        </a:rPr>
                        <a:t>Final Score</a:t>
                      </a:r>
                    </a:p>
                  </a:txBody>
                  <a:tcPr anchor="ctr" marL="54864" marR="54864" marT="18288" marB="18288">
                    <a:solidFill>
                      <a:srgbClr val="0F62F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616"/>
                          </a:solidFill>
                          <a:latin typeface="IBM Plex Sans"/>
                        </a:rPr>
                        <a:t>Accenture</a:t>
                      </a:r>
                    </a:p>
                  </a:txBody>
                  <a:tcPr anchor="ctr" marL="54864" marR="54864" marT="18288" marB="18288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616"/>
                          </a:solidFill>
                          <a:latin typeface="IBM Plex Sans"/>
                        </a:rPr>
                        <a:t>1</a:t>
                      </a:r>
                    </a:p>
                  </a:txBody>
                  <a:tcPr anchor="ctr" marL="54864" marR="54864" marT="18288" marB="18288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61616"/>
                          </a:solidFill>
                          <a:latin typeface="IBM Plex Sans"/>
                        </a:rPr>
                        <a:t>Winner</a:t>
                      </a:r>
                    </a:p>
                  </a:txBody>
                  <a:tcPr anchor="ctr" marL="54864" marR="54864" marT="18288" marB="18288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2D9C"/>
                </a:solidFill>
                <a:latin typeface="IBM Plex Sans"/>
              </a:rPr>
              <a:t>Scoring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F6F6F"/>
                </a:solidFill>
                <a:latin typeface="IBM Plex Sans"/>
              </a:rPr>
              <a:t>Prepared by SLED Competitive Intelligence Team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603504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4297680"/>
              </a:tblGrid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1616"/>
                          </a:solidFill>
                          <a:latin typeface="IBM Plex Sans"/>
                        </a:rPr>
                        <a:t>Winner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Accenture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1616"/>
                          </a:solidFill>
                          <a:latin typeface="IBM Plex Sans"/>
                        </a:rPr>
                        <a:t>Final Score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58%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1616"/>
                          </a:solidFill>
                          <a:latin typeface="IBM Plex Sans"/>
                        </a:rPr>
                        <a:t>#2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—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1616"/>
                          </a:solidFill>
                          <a:latin typeface="IBM Plex Sans"/>
                        </a:rPr>
                        <a:t>#3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—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1616"/>
                          </a:solidFill>
                          <a:latin typeface="IBM Plex Sans"/>
                        </a:rPr>
                        <a:t>IBM Outcome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—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1616"/>
                          </a:solidFill>
                          <a:latin typeface="IBM Plex Sans"/>
                        </a:rPr>
                        <a:t>Decision Driver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—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383280"/>
          <a:ext cx="4206240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2194560"/>
              </a:tblGrid>
              <a:tr h="2514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BM Plex Sans"/>
                        </a:rPr>
                        <a:t>Dimension</a:t>
                      </a:r>
                    </a:p>
                  </a:txBody>
                  <a:tcPr anchor="ctr" marL="54864" marR="54864" marT="18288" marB="18288">
                    <a:solidFill>
                      <a:srgbClr val="0F6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BM Plex Sans"/>
                        </a:rPr>
                        <a:t>Accenture</a:t>
                      </a:r>
                    </a:p>
                  </a:txBody>
                  <a:tcPr anchor="ctr" marL="54864" marR="54864" marT="18288" marB="18288">
                    <a:solidFill>
                      <a:srgbClr val="0F62FE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1616"/>
                          </a:solidFill>
                          <a:latin typeface="IBM Plex Sans"/>
                        </a:rPr>
                        <a:t>Vendor Qualifications &amp; Experience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Strong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(4)</a:t>
                      </a:r>
                    </a:p>
                  </a:txBody>
                  <a:tcPr anchor="ctr" marL="54864" marR="54864" marT="18288" marB="18288">
                    <a:solidFill>
                      <a:srgbClr val="C6E0B4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1616"/>
                          </a:solidFill>
                          <a:latin typeface="IBM Plex Sans"/>
                        </a:rPr>
                        <a:t>Technical Approach &amp; Solution Fit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Moderate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(3)</a:t>
                      </a:r>
                    </a:p>
                  </a:txBody>
                  <a:tcPr anchor="ctr" marL="54864" marR="54864" marT="18288" marB="18288">
                    <a:solidFill>
                      <a:srgbClr val="FFE699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1616"/>
                          </a:solidFill>
                          <a:latin typeface="IBM Plex Sans"/>
                        </a:rPr>
                        <a:t>Functional Requirements Coverage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Moderate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(3)</a:t>
                      </a:r>
                    </a:p>
                  </a:txBody>
                  <a:tcPr anchor="ctr" marL="54864" marR="54864" marT="18288" marB="18288">
                    <a:solidFill>
                      <a:srgbClr val="FFE699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1616"/>
                          </a:solidFill>
                          <a:latin typeface="IBM Plex Sans"/>
                        </a:rPr>
                        <a:t>Technology &amp; Architecture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Moderate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(3)</a:t>
                      </a:r>
                    </a:p>
                  </a:txBody>
                  <a:tcPr anchor="ctr" marL="54864" marR="54864" marT="18288" marB="18288">
                    <a:solidFill>
                      <a:srgbClr val="FFE699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1616"/>
                          </a:solidFill>
                          <a:latin typeface="IBM Plex Sans"/>
                        </a:rPr>
                        <a:t>Implementation / DDI Approach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Strong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(4)</a:t>
                      </a:r>
                    </a:p>
                  </a:txBody>
                  <a:tcPr anchor="ctr" marL="54864" marR="54864" marT="18288" marB="18288">
                    <a:solidFill>
                      <a:srgbClr val="C6E0B4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1616"/>
                          </a:solidFill>
                          <a:latin typeface="IBM Plex Sans"/>
                        </a:rPr>
                        <a:t>Staffing &amp; Key Personnel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Moderate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(3)</a:t>
                      </a:r>
                    </a:p>
                  </a:txBody>
                  <a:tcPr anchor="ctr" marL="54864" marR="54864" marT="18288" marB="18288">
                    <a:solidFill>
                      <a:srgbClr val="FFE699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1616"/>
                          </a:solidFill>
                          <a:latin typeface="IBM Plex Sans"/>
                        </a:rPr>
                        <a:t>Past Performance &amp; References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Weak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(2)</a:t>
                      </a:r>
                    </a:p>
                  </a:txBody>
                  <a:tcPr anchor="ctr" marL="54864" marR="54864" marT="18288" marB="18288">
                    <a:solidFill>
                      <a:srgbClr val="E6A092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1616"/>
                          </a:solidFill>
                          <a:latin typeface="IBM Plex Sans"/>
                        </a:rPr>
                        <a:t>Project Management &amp; Governance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Strong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(4)</a:t>
                      </a:r>
                    </a:p>
                  </a:txBody>
                  <a:tcPr anchor="ctr" marL="54864" marR="54864" marT="18288" marB="18288">
                    <a:solidFill>
                      <a:srgbClr val="C6E0B4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1616"/>
                          </a:solidFill>
                          <a:latin typeface="IBM Plex Sans"/>
                        </a:rPr>
                        <a:t>Maintenance &amp; Operations (M&amp;O)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—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1616"/>
                          </a:solidFill>
                          <a:latin typeface="IBM Plex Sans"/>
                        </a:rPr>
                        <a:t>Data Migration &amp; Reporting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—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1616"/>
                          </a:solidFill>
                          <a:latin typeface="IBM Plex Sans"/>
                        </a:rPr>
                        <a:t>Cost / Price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—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2D9C"/>
                </a:solidFill>
                <a:latin typeface="IBM Plex Sans"/>
              </a:rPr>
              <a:t>Detailed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F6F6F"/>
                </a:solidFill>
                <a:latin typeface="IBM Plex Sans"/>
              </a:rPr>
              <a:t>Prepared by SLED Competitive Intelligence Team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6217920" cy="5120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2011680"/>
                <a:gridCol w="23774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BM Plex Sans"/>
                        </a:rPr>
                        <a:t>Evaluation Dimension</a:t>
                      </a:r>
                    </a:p>
                  </a:txBody>
                  <a:tcPr anchor="ctr" marL="54864" marR="54864" marT="18288" marB="18288">
                    <a:solidFill>
                      <a:srgbClr val="0F6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BM Plex Sans"/>
                        </a:rPr>
                        <a:t>Accenture</a:t>
                      </a:r>
                    </a:p>
                  </a:txBody>
                  <a:tcPr anchor="ctr" marL="54864" marR="54864" marT="18288" marB="18288">
                    <a:solidFill>
                      <a:srgbClr val="0F6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IBM Plex Sans"/>
                        </a:rPr>
                        <a:t>Evaluation Notes</a:t>
                      </a:r>
                    </a:p>
                  </a:txBody>
                  <a:tcPr anchor="ctr" marL="54864" marR="54864" marT="18288" marB="18288">
                    <a:solidFill>
                      <a:srgbClr val="0F62F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1616"/>
                          </a:solidFill>
                          <a:latin typeface="IBM Plex Sans"/>
                        </a:rPr>
                        <a:t>Vendor Qualifications &amp; Experience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4</a:t>
                      </a:r>
                    </a:p>
                  </a:txBody>
                  <a:tcPr anchor="ctr" marL="54864" marR="54864" marT="18288" marB="18288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1616"/>
                          </a:solidFill>
                          <a:latin typeface="IBM Plex Sans"/>
                        </a:rPr>
                        <a:t>Leader: Accenture (4).</a:t>
                      </a:r>
                    </a:p>
                  </a:txBody>
                  <a:tcPr anchor="ctr" marL="54864" marR="54864" marT="18288" marB="18288"/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1616"/>
                          </a:solidFill>
                          <a:latin typeface="IBM Plex Sans"/>
                        </a:rPr>
                        <a:t>Technical Approach &amp; Solution Fit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3</a:t>
                      </a:r>
                    </a:p>
                  </a:txBody>
                  <a:tcPr anchor="ctr" marL="54864" marR="54864" marT="18288" marB="18288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1616"/>
                          </a:solidFill>
                          <a:latin typeface="IBM Plex Sans"/>
                        </a:rPr>
                        <a:t>Leader: Accenture (3).</a:t>
                      </a:r>
                    </a:p>
                  </a:txBody>
                  <a:tcPr anchor="ctr" marL="54864" marR="54864" marT="18288" marB="18288"/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1616"/>
                          </a:solidFill>
                          <a:latin typeface="IBM Plex Sans"/>
                        </a:rPr>
                        <a:t>Functional Requirements Coverage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3</a:t>
                      </a:r>
                    </a:p>
                  </a:txBody>
                  <a:tcPr anchor="ctr" marL="54864" marR="54864" marT="18288" marB="18288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1616"/>
                          </a:solidFill>
                          <a:latin typeface="IBM Plex Sans"/>
                        </a:rPr>
                        <a:t>Leader: Accenture (3).</a:t>
                      </a:r>
                    </a:p>
                  </a:txBody>
                  <a:tcPr anchor="ctr" marL="54864" marR="54864" marT="18288" marB="18288"/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1616"/>
                          </a:solidFill>
                          <a:latin typeface="IBM Plex Sans"/>
                        </a:rPr>
                        <a:t>Technology &amp; Architecture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3</a:t>
                      </a:r>
                    </a:p>
                  </a:txBody>
                  <a:tcPr anchor="ctr" marL="54864" marR="54864" marT="18288" marB="18288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1616"/>
                          </a:solidFill>
                          <a:latin typeface="IBM Plex Sans"/>
                        </a:rPr>
                        <a:t>Leader: Accenture (3).</a:t>
                      </a:r>
                    </a:p>
                  </a:txBody>
                  <a:tcPr anchor="ctr" marL="54864" marR="54864" marT="18288" marB="18288"/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1616"/>
                          </a:solidFill>
                          <a:latin typeface="IBM Plex Sans"/>
                        </a:rPr>
                        <a:t>Implementation / DDI Approach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4</a:t>
                      </a:r>
                    </a:p>
                  </a:txBody>
                  <a:tcPr anchor="ctr" marL="54864" marR="54864" marT="18288" marB="18288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1616"/>
                          </a:solidFill>
                          <a:latin typeface="IBM Plex Sans"/>
                        </a:rPr>
                        <a:t>Leader: Accenture (4).</a:t>
                      </a:r>
                    </a:p>
                  </a:txBody>
                  <a:tcPr anchor="ctr" marL="54864" marR="54864" marT="18288" marB="18288"/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1616"/>
                          </a:solidFill>
                          <a:latin typeface="IBM Plex Sans"/>
                        </a:rPr>
                        <a:t>Staffing &amp; Key Personnel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3</a:t>
                      </a:r>
                    </a:p>
                  </a:txBody>
                  <a:tcPr anchor="ctr" marL="54864" marR="54864" marT="18288" marB="18288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1616"/>
                          </a:solidFill>
                          <a:latin typeface="IBM Plex Sans"/>
                        </a:rPr>
                        <a:t>Leader: Accenture (3).</a:t>
                      </a:r>
                    </a:p>
                  </a:txBody>
                  <a:tcPr anchor="ctr" marL="54864" marR="54864" marT="18288" marB="18288"/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1616"/>
                          </a:solidFill>
                          <a:latin typeface="IBM Plex Sans"/>
                        </a:rPr>
                        <a:t>Past Performance &amp; References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2</a:t>
                      </a:r>
                    </a:p>
                  </a:txBody>
                  <a:tcPr anchor="ctr" marL="54864" marR="54864" marT="18288" marB="18288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1616"/>
                          </a:solidFill>
                          <a:latin typeface="IBM Plex Sans"/>
                        </a:rPr>
                        <a:t>Leader: Accenture (2).</a:t>
                      </a:r>
                    </a:p>
                  </a:txBody>
                  <a:tcPr anchor="ctr" marL="54864" marR="54864" marT="18288" marB="18288"/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1616"/>
                          </a:solidFill>
                          <a:latin typeface="IBM Plex Sans"/>
                        </a:rPr>
                        <a:t>Project Management &amp; Governance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4</a:t>
                      </a:r>
                    </a:p>
                  </a:txBody>
                  <a:tcPr anchor="ctr" marL="54864" marR="54864" marT="18288" marB="18288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1616"/>
                          </a:solidFill>
                          <a:latin typeface="IBM Plex Sans"/>
                        </a:rPr>
                        <a:t>Leader: Accenture (4).</a:t>
                      </a:r>
                    </a:p>
                  </a:txBody>
                  <a:tcPr anchor="ctr" marL="54864" marR="54864" marT="18288" marB="18288"/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1616"/>
                          </a:solidFill>
                          <a:latin typeface="IBM Plex Sans"/>
                        </a:rPr>
                        <a:t>Maintenance &amp; Operations (M&amp;O)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—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1616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anchor="ctr" marL="54864" marR="54864" marT="18288" marB="18288"/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1616"/>
                          </a:solidFill>
                          <a:latin typeface="IBM Plex Sans"/>
                        </a:rPr>
                        <a:t>Data Migration &amp; Reporting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—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1616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anchor="ctr" marL="54864" marR="54864" marT="18288" marB="18288"/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1616"/>
                          </a:solidFill>
                          <a:latin typeface="IBM Plex Sans"/>
                        </a:rPr>
                        <a:t>Cost / Price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1616"/>
                          </a:solidFill>
                          <a:latin typeface="IBM Plex Sans"/>
                        </a:rPr>
                        <a:t>—</a:t>
                      </a:r>
                    </a:p>
                  </a:txBody>
                  <a:tcPr anchor="ctr" marL="54864" marR="54864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1616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anchor="ctr" marL="54864" marR="54864" marT="18288" marB="18288"/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1616"/>
                          </a:solidFill>
                          <a:latin typeface="IBM Plex Sans"/>
                        </a:rPr>
                        <a:t>Normalized Total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61616"/>
                          </a:solidFill>
                          <a:latin typeface="IBM Plex Sans"/>
                        </a:rPr>
                        <a:t>58%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1616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1616"/>
                          </a:solidFill>
                          <a:latin typeface="IBM Plex Sans"/>
                        </a:rPr>
                        <a:t>Rank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61616"/>
                          </a:solidFill>
                          <a:latin typeface="IBM Plex Sans"/>
                        </a:rPr>
                        <a:t>#1</a:t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1616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anchor="ctr" marL="54864" marR="54864" marT="18288" marB="18288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2D9C"/>
                </a:solidFill>
                <a:latin typeface="IBM Plex Sans"/>
              </a:rPr>
              <a:t>Outcome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F6F6F"/>
                </a:solidFill>
                <a:latin typeface="IBM Plex Sans"/>
              </a:rPr>
              <a:t>Prepared by SLED Competitive Intelligence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72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61616"/>
                </a:solidFill>
                <a:latin typeface="IBM Plex Sans"/>
              </a:rPr>
              <a:t>Competitive analysis unavailable.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